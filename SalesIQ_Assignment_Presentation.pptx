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182880"/>
            <a:ext cx="2926080" cy="2926080"/>
          </a:xfrm>
          <a:prstGeom prst="ellipse">
            <a:avLst/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6035040"/>
            <a:ext cx="2377440" cy="23774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7589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SalesIQ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143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5B4FC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Intelligent Sales Analytics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&amp; Forecasting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2FE"/>
                </a:solidFill>
                <a:latin typeface="Segoe UI"/>
              </a:rPr>
              <a:t>An end-to-end AI/ML system: raw sales data → validation &amp; cleaning → EDA →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2FE"/>
                </a:solidFill>
                <a:latin typeface="Segoe UI"/>
              </a:rPr>
              <a:t>feature engineering → forecasting (Baseline · SARIMA · XGBoost) → REST API →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020470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Python 3.11+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0590" y="4846320"/>
            <a:ext cx="663854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1604" y="4846320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Next.js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6588" y="4846320"/>
            <a:ext cx="1519732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SQLite / 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3480" y="4846320"/>
            <a:ext cx="592531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3171" y="4846320"/>
            <a:ext cx="663854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XGBoost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4185" y="4846320"/>
            <a:ext cx="592531" cy="310896"/>
          </a:xfrm>
          <a:prstGeom prst="roundRect">
            <a:avLst>
              <a:gd name="adj" fmla="val 50000"/>
            </a:avLst>
          </a:prstGeom>
          <a:solidFill>
            <a:srgbClr val="2E2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SARIMA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CA3AF"/>
                </a:solidFill>
                <a:latin typeface="Segoe UI"/>
              </a:rPr>
              <a:t>AI/ML Internship Assignment  ·  Project Showcase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F96EE"/>
                </a:solidFill>
                <a:latin typeface="Segoe UI"/>
              </a:rPr>
              <a:t>github.com/icodervivek/SalesIQ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What this deck covers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151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Problem Statement &amp;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Why SalesIQ, and what it needs to demonstrate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688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151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Core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Upload, validation, EDA, forecasting,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39312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03904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8561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Tech Stack &amp;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9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How the system is put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39312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803904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8561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ML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69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Baseline, SARIMA, XGBoost, features,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09744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7433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9560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3400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Measured model comparison, not illustrative numbers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809744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97433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9560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Live Product Walkthrough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3400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Screenshots of the running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80176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7E0D1"/>
                </a:solidFill>
                <a:latin typeface="Segoe U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6126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F1A"/>
                </a:solidFill>
                <a:latin typeface="Segoe UI"/>
              </a:rPr>
              <a:t>Testing, Deliverables &amp; Limitations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65105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What's verified, what's shipped,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Problem Statement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64922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1F1A"/>
                </a:solidFill>
                <a:latin typeface="Segoe UI"/>
              </a:rPr>
              <a:t>Businesses sit on large volumes of historical sales data, but converting that data into reliable, forward-looking information is hard.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Manual spreadsheets can show what already happened — they are far less effective at surfacing seasonality, trend shifts, or expected future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02920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93792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372FA6"/>
                </a:solidFill>
                <a:latin typeface="Segoe UI"/>
              </a:rPr>
              <a:t>SalesIQ's goal: build an end-to-end forecasting &amp; analytics system that turns raw transaction data into actionable forecasts and visual insight.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377440"/>
            <a:ext cx="4434840" cy="3749039"/>
          </a:xfrm>
          <a:prstGeom prst="roundRect">
            <a:avLst>
              <a:gd name="adj" fmla="val 6000"/>
            </a:avLst>
          </a:prstGeom>
          <a:solidFill>
            <a:srgbClr val="1B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51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Who feels this 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546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Sales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44728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1D5DB"/>
                </a:solidFill>
                <a:latin typeface="Segoe UI"/>
              </a:rPr>
              <a:t>Understand performance &amp; expected future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86791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Business 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1605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1D5DB"/>
                </a:solidFill>
                <a:latin typeface="Segoe UI"/>
              </a:rPr>
              <a:t>Explore trends, products, regions,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58114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Operations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87375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1D5DB"/>
                </a:solidFill>
                <a:latin typeface="Segoe UI"/>
              </a:rPr>
              <a:t>Use demand forecasts for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529437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Technical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58698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1D5DB"/>
                </a:solidFill>
                <a:latin typeface="Segoe UI"/>
              </a:rPr>
              <a:t>Run, evaluate, maintain the ML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Project Objectives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04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134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Ingestion &amp;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42616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A clean, reusable pipeline for sales-data validation and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317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134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Exploratory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42616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Surface trends, seasonality, outliers, and product/region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558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6674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Time-based and business features (lags, rolling stats, calendar, exogenous)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558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37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2+ Forecasting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6674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Implement and fairly compare multiple forecasting approaches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7997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6168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Time-Aware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690872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Chronological validation with forecasting-appropriate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37997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6168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90872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Expose data, analytics, training and forecasting through endpoints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858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Interactive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7150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A real UI for uploading, exploring, and forecasting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40410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858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Documentation &amp; Packaging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7150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255"/>
                </a:solidFill>
                <a:latin typeface="Segoe UI"/>
              </a:rPr>
              <a:t>Assumptions, limitations, setup — runnable by another developer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Core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05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8600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92440"/>
              </a:tblGrid>
              <a:tr h="374072">
                <a:tc>
                  <a:txBody>
                    <a:bodyPr anchor="ctr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Expected Behavior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Data Upload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Upload CSV sales data, validate required columns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Validation &amp; Cleaning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Detect + handle missing/invalid dates, duplicates, negatives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EDA Dashboard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Trends, growth, product &amp; regional performance, distributions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Feature Engineering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Date, lag, rolling, growth-rate, exogenous features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Forecasting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Selectable horizon: 7 / 30 / 90 / custom days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Model Comparison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Baseline · SARIMA · XGBoost, consistent metrics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Prediction Intervals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Shaded forecast range, not just a point estimate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Product/Region Forecasting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Scope training &amp; forecasting to a segment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Anomaly Detection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Rolling z-score flags unusual sales periods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CSV Export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Download forecast results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Dataset Specification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8600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2011680"/>
              </a:tblGrid>
              <a:tr h="457200">
                <a:tc>
                  <a:txBody>
                    <a:bodyPr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product_id / product_name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units_sold / revenue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Numeric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category / region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Recommended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unit_price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Numeric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Recommended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221F1A"/>
                          </a:solidFill>
                          <a:latin typeface="Segoe UI"/>
                        </a:rPr>
                        <a:t>discount / marketing_spend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Numeric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00" b="0">
                          <a:solidFill>
                            <a:srgbClr val="6B6255"/>
                          </a:solidFill>
                          <a:latin typeface="Segoe UI"/>
                        </a:rPr>
                        <a:t>Optional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69480" y="2286000"/>
            <a:ext cx="443484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5146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6 bundled sample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260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sample_sales.csv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14553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29,330 rows · main dataset, 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42900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quick_test_sample.csv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64845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734 rows · fast single-product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93192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fmcg_grocery_sample.csv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15137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10,220 rows · different vertical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43484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minimal_history_sample.csv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5429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50 rows · training boundary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93776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sparse_gaps_sample.csv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15721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342 rows · missing calendar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4406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72FA6"/>
                </a:solidFill>
                <a:latin typeface="Segoe UI"/>
              </a:rPr>
              <a:t>edge_case_sample.csv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66013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255"/>
                </a:solidFill>
                <a:latin typeface="Segoe UI"/>
              </a:rPr>
              <a:t>13 rows · every cleaning rule at 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Architecture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07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73152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Next.js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255"/>
                </a:solidFill>
                <a:latin typeface="Segoe UI"/>
              </a:rPr>
              <a:t>Dashboard · Upload · Filters · Forecast viz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3774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377440"/>
            <a:ext cx="73152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07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255"/>
                </a:solidFill>
                <a:latin typeface="Segoe UI"/>
              </a:rPr>
              <a:t>REST endpoints · validation ·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3774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37744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ML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07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255"/>
                </a:solidFill>
                <a:latin typeface="Segoe UI"/>
              </a:rPr>
              <a:t>preprocessing → features → models → 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73152" cy="1005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Database (SQLite / PostgreSQL)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622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255"/>
                </a:solidFill>
                <a:latin typeface="Segoe UI"/>
              </a:rPr>
              <a:t>datasets · training runs · forecast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931920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3931920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Docker + Docker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622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255"/>
                </a:solidFill>
                <a:latin typeface="Segoe UI"/>
              </a:rPr>
              <a:t>reproducible dev &amp; deployment runtime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148840" y="3401568"/>
            <a:ext cx="320040" cy="320040"/>
          </a:xfrm>
          <a:prstGeom prst="downArrow">
            <a:avLst/>
          </a:prstGeom>
          <a:solidFill>
            <a:srgbClr val="9C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5897880" y="3401568"/>
            <a:ext cx="320040" cy="320040"/>
          </a:xfrm>
          <a:prstGeom prst="downArrow">
            <a:avLst/>
          </a:prstGeom>
          <a:solidFill>
            <a:srgbClr val="9C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6255"/>
                </a:solidFill>
                <a:latin typeface="Segoe UI"/>
              </a:rPr>
              <a:t>Frontend talks to the backend only via REST. The backend is a thin API layer over a service layer that calls a framework-agnostic ML pipeline (pure pandas / scikit-learn / statsmodels / xgboost) — independently testable, reusable from a notebook or batch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BUILT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Tech Stack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08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8716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74320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8094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Python 3.11+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28600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11296" y="2487168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274320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98094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Pandas · NumPy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28600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18504" y="248716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74320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98094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Scikit-learn · XGBoost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28600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25712" y="2487168"/>
            <a:ext cx="146304" cy="14630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74320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TIME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98094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Statsmodels (SARIMA)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56616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" y="3767328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2336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26110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FastAPI · SQLAlchemy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356616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11296" y="3767328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402336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11296" y="426110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SQLite (local) · PostgreSQL (Docker)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7336" y="356616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18504" y="37673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402336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426110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Next.js 14 · React 18 · 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4544" y="356616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25712" y="376732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5712" y="402336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26110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Recharts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4632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4088" y="504748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3035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STYLING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554126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Tailwind CSS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10128" y="484632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511296" y="5047488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11296" y="53035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CONTAINERIZATION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1296" y="554126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Docker · Docker Compose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17336" y="484632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18504" y="5047488"/>
            <a:ext cx="146304" cy="14630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53035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TESTING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4" y="554126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Pytest (22 tests)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4544" y="4846320"/>
            <a:ext cx="269748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25712" y="5047488"/>
            <a:ext cx="146304" cy="146304"/>
          </a:xfrm>
          <a:prstGeom prst="ellipse">
            <a:avLst/>
          </a:prstGeom>
          <a:solidFill>
            <a:srgbClr val="22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2" y="53035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C9384"/>
                </a:solidFill>
                <a:latin typeface="Segoe UI"/>
              </a:rPr>
              <a:t>VERSION CONTROL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25712" y="554126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1F1A"/>
                </a:solidFill>
                <a:latin typeface="Segoe UI"/>
              </a:rPr>
              <a:t>Git +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ML Approach — Three Models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09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3685032" cy="502920"/>
          </a:xfrm>
          <a:prstGeom prst="roundRect">
            <a:avLst>
              <a:gd name="adj" fmla="val 8000"/>
            </a:avLst>
          </a:prstGeom>
          <a:solidFill>
            <a:srgbClr val="9C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21F1A"/>
                </a:solidFill>
                <a:latin typeface="Segoe UI"/>
              </a:rPr>
              <a:t>Seasonal-Naive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32278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Forecasts day t as the value 7 days earlier. Zero training cost — the bar every other model must clear.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33172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25112" y="2331720"/>
            <a:ext cx="3685032" cy="5029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45059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MODEL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971800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21F1A"/>
                </a:solidFill>
                <a:latin typeface="Segoe UI"/>
              </a:rPr>
              <a:t>SARIMA(1,1,1)(1,1,1,7)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703320"/>
            <a:ext cx="32278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Classical statistical model with an explicit weekly seasonal term. Native confidence intervals.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233172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47304" y="2331720"/>
            <a:ext cx="3685032" cy="50292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245059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MODEL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971800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21F1A"/>
                </a:solidFill>
                <a:latin typeface="Segoe UI"/>
              </a:rPr>
              <a:t>XGBoost + Exogenous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703320"/>
            <a:ext cx="32278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Gradient-boosted trees over lag/rolling/calendar features plus discount, marketing spend, and a lagged category/region peer benchmark.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C9384"/>
                </a:solidFill>
                <a:latin typeface="Segoe UI"/>
              </a:rPr>
              <a:t>LSTM/GRU intentionally not used — higher overfitting risk on ~24 months of data and far less interpretable than XGBoost's feature importances.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Feature Engineering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10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128016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day · day-of-week · week · month · quarter · year · is_weekend · is_month_start/end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72968"/>
            <a:ext cx="12801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Lag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lag-1, lag-7, lag-14, lag-30 (strictly past values only — no leakage)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14216"/>
            <a:ext cx="128016" cy="6583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959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Rolling 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0682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7 / 14 / 30-day rolling mean &amp; standard deviation, shifted by 1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55464"/>
            <a:ext cx="12801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371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Growth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48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Recent 7-day growth computed from lagged values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96712"/>
            <a:ext cx="128016" cy="65836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784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Exogenous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255"/>
                </a:solidFill>
                <a:latin typeface="Segoe UI"/>
              </a:rPr>
              <a:t>discount, marketing_spend (planned/known inputs) + a one-day-lagged product/category/region peer-average benchmark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943600"/>
            <a:ext cx="11201400" cy="594360"/>
          </a:xfrm>
          <a:prstGeom prst="roundRect">
            <a:avLst>
              <a:gd name="adj" fmla="val 15000"/>
            </a:avLst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0899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45309"/>
                </a:solidFill>
                <a:latin typeface="Segoe UI"/>
              </a:rPr>
              <a:t>⚠  Bug caught during development: an early version used the SAME-DAY peer average, which is a near-perfect proxy for the target itself. Lagging it by one day fixed the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Validation &amp; Evaluation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1F1A"/>
                </a:solidFill>
                <a:latin typeface="Segoe UI"/>
              </a:rPr>
              <a:t>Chronological Holdout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>
                <a:solidFill>
                  <a:srgbClr val="6B6255"/>
                </a:solidFill>
                <a:latin typeface="Segoe UI"/>
              </a:rPr>
              <a:t>Last N days (default 14) held out as test set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>
                <a:solidFill>
                  <a:srgbClr val="6B6255"/>
                </a:solidFill>
                <a:latin typeface="Segoe UI"/>
              </a:rPr>
              <a:t>Models fit ONLY on data before that cutoff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>
                <a:solidFill>
                  <a:srgbClr val="6B6255"/>
                </a:solidFill>
                <a:latin typeface="Segoe UI"/>
              </a:rPr>
              <a:t>No shuffling, ever — the #1 leakage source in forecasting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>
                <a:solidFill>
                  <a:srgbClr val="6B6255"/>
                </a:solidFill>
                <a:latin typeface="Segoe UI"/>
              </a:rPr>
              <a:t>Test size auto-capped at 20% of series length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>
                <a:solidFill>
                  <a:srgbClr val="6B6255"/>
                </a:solidFill>
                <a:latin typeface="Segoe UI"/>
              </a:rPr>
              <a:t>Minimum 45 days of history required to train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1F1A"/>
                </a:solidFill>
                <a:latin typeface="Segoe UI"/>
              </a:rPr>
              <a:t>Metrics 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 b="1">
                <a:solidFill>
                  <a:srgbClr val="221F1A"/>
                </a:solidFill>
                <a:latin typeface="Segoe UI"/>
              </a:rPr>
              <a:t>MAE — </a:t>
            </a:r>
            <a:r>
              <a:rPr sz="1250">
                <a:solidFill>
                  <a:srgbClr val="6B6255"/>
                </a:solidFill>
                <a:latin typeface="Segoe UI"/>
              </a:rPr>
              <a:t>average absolute error, in units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 b="1">
                <a:solidFill>
                  <a:srgbClr val="221F1A"/>
                </a:solidFill>
                <a:latin typeface="Segoe UI"/>
              </a:rPr>
              <a:t>RMSE — </a:t>
            </a:r>
            <a:r>
              <a:rPr sz="1250">
                <a:solidFill>
                  <a:srgbClr val="6B6255"/>
                </a:solidFill>
                <a:latin typeface="Segoe UI"/>
              </a:rPr>
              <a:t>penalizes large misses more heavily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 b="1">
                <a:solidFill>
                  <a:srgbClr val="221F1A"/>
                </a:solidFill>
                <a:latin typeface="Segoe UI"/>
              </a:rPr>
              <a:t>MAPE — </a:t>
            </a:r>
            <a:r>
              <a:rPr sz="1250">
                <a:solidFill>
                  <a:srgbClr val="6B6255"/>
                </a:solidFill>
                <a:latin typeface="Segoe UI"/>
              </a:rPr>
              <a:t>percentage error, 1-unit floor prevents zero-actual blowups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 b="1">
                <a:solidFill>
                  <a:srgbClr val="221F1A"/>
                </a:solidFill>
                <a:latin typeface="Segoe UI"/>
              </a:rPr>
              <a:t>R² — </a:t>
            </a:r>
            <a:r>
              <a:rPr sz="1250">
                <a:solidFill>
                  <a:srgbClr val="6B6255"/>
                </a:solidFill>
                <a:latin typeface="Segoe UI"/>
              </a:rPr>
              <a:t>reported for context, not used to pick the winner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250" b="1">
                <a:solidFill>
                  <a:srgbClr val="221F1A"/>
                </a:solidFill>
                <a:latin typeface="Segoe UI"/>
              </a:rPr>
              <a:t>Selection rule — </a:t>
            </a:r>
            <a:r>
              <a:rPr sz="1250">
                <a:solidFill>
                  <a:srgbClr val="6B6255"/>
                </a:solidFill>
                <a:latin typeface="Segoe UI"/>
              </a:rPr>
              <a:t>lowest holdout RMSE wins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REAL MEASURED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Model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Global daily series · sample_sales.csv · 731 days · 14-day holdout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12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651760"/>
          <a:ext cx="1120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1737360"/>
                <a:gridCol w="1737360"/>
                <a:gridCol w="1783080"/>
              </a:tblGrid>
              <a:tr h="434340"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MAPE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221F1A"/>
                          </a:solidFill>
                          <a:latin typeface="Segoe UI"/>
                        </a:rPr>
                        <a:t>Baseline (Seasonal Naive)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32.93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41.21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4.99%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0.834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221F1A"/>
                          </a:solidFill>
                          <a:latin typeface="Segoe UI"/>
                        </a:rPr>
                        <a:t>SARIMA(1,1,1)(1,1,1,7)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41.63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48.68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6.05%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0.768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rPr sz="1300" b="1">
                          <a:solidFill>
                            <a:srgbClr val="221F1A"/>
                          </a:solidFill>
                          <a:latin typeface="Segoe UI"/>
                        </a:rPr>
                        <a:t>XGBoost (Lag+Calendar+Exogenous)</a:t>
                      </a:r>
                    </a:p>
                  </a:txBody>
                  <a:tcPr marL="101600" marT="38100" marB="38100">
                    <a:solidFill>
                      <a:srgbClr val="F4EFE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33.72</a:t>
                      </a:r>
                    </a:p>
                  </a:txBody>
                  <a:tcPr marL="101600" marT="38100" marB="38100">
                    <a:solidFill>
                      <a:srgbClr val="F4EFE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36.97</a:t>
                      </a:r>
                    </a:p>
                  </a:txBody>
                  <a:tcPr marL="101600" marT="38100" marB="38100">
                    <a:solidFill>
                      <a:srgbClr val="F4EFE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5.05%</a:t>
                      </a:r>
                    </a:p>
                  </a:txBody>
                  <a:tcPr marL="101600" marT="38100" marB="38100">
                    <a:solidFill>
                      <a:srgbClr val="F4EFE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300" b="0">
                          <a:solidFill>
                            <a:srgbClr val="6B6255"/>
                          </a:solidFill>
                          <a:latin typeface="Segoe UI"/>
                        </a:rPr>
                        <a:t>0.866</a:t>
                      </a:r>
                    </a:p>
                  </a:txBody>
                  <a:tcPr marL="101600" marT="38100" marB="38100">
                    <a:solidFill>
                      <a:srgbClr val="F4EFE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4617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21F1A"/>
                </a:solidFill>
                <a:latin typeface="Segoe UI"/>
              </a:rP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6255"/>
                </a:solidFill>
                <a:latin typeface="Segoe UI"/>
              </a:rPr>
              <a:t>XGBoost wins on RMSE (fewer large misses around demand spikes). Seasonal-Naive is unusually strong here (clean weekly seasonality in the data) — a healthy reminder that a fancier model isn't automatically much better than a good baseline. For a single product's series (smaller, noisier), SARIMA sometimes wins instead — model selection runs fresh on every training run rather than hard-coding a winner.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REST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86000"/>
          <a:ext cx="11201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94760"/>
                <a:gridCol w="5943600"/>
              </a:tblGrid>
              <a:tr h="491490">
                <a:tc>
                  <a:txBody>
                    <a:bodyPr anchor="ctr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1600" marT="50800" marB="50800">
                    <a:solidFill>
                      <a:srgbClr val="2E2887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/api/datasets/upload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Upload + validate + clean a CSV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/api/analytics/summary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KPIs — revenue, units, AOV, growth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/api/analytics/trends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Historical trend series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/api/models/train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Train &amp; evaluate all 3 models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/api/forecast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Generate a forecast for a horizon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/api/forecast/{id}/export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Download forecast as CSV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221F1A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/api/health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50" b="0">
                          <a:solidFill>
                            <a:srgbClr val="6B6255"/>
                          </a:solidFill>
                          <a:latin typeface="Segoe UI"/>
                        </a:rPr>
                        <a:t>Service health check</a:t>
                      </a:r>
                    </a:p>
                  </a:txBody>
                  <a:tcPr marL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Overview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KPI cards, revenue trend, and top products — live data from the bundled sample dataset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14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12014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1098194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Regional / Category Performance &amp;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Revenue breakdowns plus a transparent validation &amp; cleaning report for every upload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15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12014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overview-regional-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1098194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Upload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Drag-and-drop CSV upload with the expected column reference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16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12014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1098194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Model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All 3 models evaluated on the same holdout — best model flagged automatically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17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12014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forecast-model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1098194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Forecast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6255"/>
                </a:solidFill>
                <a:latin typeface="Segoe UI"/>
              </a:rPr>
              <a:t>Historical vs. forecast clearly distinguished, shaded prediction interval, CSV export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18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12014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-forecas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1098194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Testing, Edge Cases &amp; Quality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19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54864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C9384"/>
                </a:solidFill>
                <a:latin typeface="Segoe UI"/>
              </a:rPr>
              <a:t>BACKEND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1F1A"/>
                </a:solidFill>
                <a:latin typeface="Segoe UI"/>
              </a:rPr>
              <a:t>22 / 22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28600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286000"/>
            <a:ext cx="54864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450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C9384"/>
                </a:solidFill>
                <a:latin typeface="Segoe UI"/>
              </a:rPr>
              <a:t>SAMPLE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1F1A"/>
                </a:solidFill>
                <a:latin typeface="Segoe UI"/>
              </a:rPr>
              <a:t>6 datasets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28600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28600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50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C9384"/>
                </a:solidFill>
                <a:latin typeface="Segoe UI"/>
              </a:rPr>
              <a:t>EDGE CASES HANDLED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1F1A"/>
                </a:solidFill>
                <a:latin typeface="Segoe UI"/>
              </a:rPr>
              <a:t>10+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228600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286000"/>
            <a:ext cx="54864" cy="1188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50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C9384"/>
                </a:solidFill>
                <a:latin typeface="Segoe UI"/>
              </a:rPr>
              <a:t>API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432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1F1A"/>
                </a:solidFill>
                <a:latin typeface="Segoe UI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94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Covered by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Validation &amp; cleaning edge cases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Feature-engineering leakage checks (lag_1 uses only the past)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Zero-actual-safe MAPE and all evaluation metrics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Full upload → train → forecast → export API flow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Exogenous-feature persistence in recursive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794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F1A"/>
                </a:solidFill>
                <a:latin typeface="Segoe UI"/>
              </a:rPr>
              <a:t>Data edge cases handled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20624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Missing/invalid dates, duplicate rows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Missing required fields, negative values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Zero-sales days, extreme outliers (winsorized)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Gaps in the calendar (missing days)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Datasets right at the minimum-history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Deliverables Checklist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20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860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042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Complete source-code repository (GitHub, public)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2860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042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Working frontend dashboard (Next.js)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9718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9900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Working FastAPI backend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9718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9900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ML training &amp; forecasting pipeline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6576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6758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6 sample datasets (main + edge cases)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36576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6758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requirements.txt + Dockerfile x2 + docker-compose.yml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3434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3616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README — architecture, setup, API reference, assumptions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0" y="43434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3616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Model evaluation report with real comparison results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0292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Screenshots from a live running instance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50292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1F1A"/>
                </a:solidFill>
                <a:latin typeface="Segoe UI"/>
              </a:rPr>
              <a:t>22 automated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BEYOND THE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Bonus Features Implemented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21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55778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59669"/>
                </a:solidFill>
                <a:latin typeface="Segoe UI"/>
              </a:rPr>
              <a:t>✓ 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Product &amp; region-level forecasting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Automatic model selection (by holdout RMSE)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Prediction intervals / uncertainty visualization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Anomaly detection (rolling z-score)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CSV export of forecasts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Docker Compose (frontend + backend + Postgres)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C9384"/>
                </a:solidFill>
                <a:latin typeface="Segoe UI"/>
              </a:rPr>
              <a:t>○  Explicitly 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9C9384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What-if analysis (discount/marketing scenarios)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9C9384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Scheduled retraining / background job queue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9C9384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Authentication &amp; role-based access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9C9384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Cloud deployment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9C9384"/>
                </a:solidFill>
                <a:latin typeface="Segoe UI"/>
              </a:rPr>
              <a:t>→  </a:t>
            </a:r>
            <a:r>
              <a:rPr sz="1200">
                <a:solidFill>
                  <a:srgbClr val="6B6255"/>
                </a:solidFill>
                <a:latin typeface="Segoe UI"/>
              </a:rPr>
              <a:t>MLflow experiment tracking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1F1A"/>
                </a:solidFill>
                <a:latin typeface="Segoe UI"/>
              </a:rPr>
              <a:t>SalesIQ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C9384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Segoe UI"/>
              </a:rPr>
              <a:t>HONEST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1F1A"/>
                </a:solidFill>
                <a:latin typeface="Segoe UI"/>
              </a:rPr>
              <a:t>Limitations &amp; Production Roadmap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737360"/>
            <a:ext cx="11183112" cy="0"/>
          </a:xfrm>
          <a:prstGeom prst="line">
            <a:avLst/>
          </a:prstGeom>
          <a:ln w="12700">
            <a:solidFill>
              <a:srgbClr val="E7E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22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C9384"/>
                </a:solidFill>
                <a:latin typeface="Segoe UI"/>
              </a:rPr>
              <a:t>AI/ML Internship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Segoe UI"/>
              </a:rPr>
              <a:t>Known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Single-fold holdout, not full walk-forward backtesting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Missing calendar days treated as zero sales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XGBoost's interval is a residual-based approximation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No cold-start model for brand-new products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No holiday calendar or competitor pricing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59669"/>
                </a:solidFill>
                <a:latin typeface="Segoe UI"/>
              </a:rPr>
              <a:t>Production improvement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9748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Expanding-window backtesting as a background job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Holiday calendar + competitor pricing as features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Per-segment models with fallback to the global model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MLflow experiment tracking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→  </a:t>
            </a:r>
            <a:r>
              <a:rPr sz="1150">
                <a:solidFill>
                  <a:srgbClr val="6B6255"/>
                </a:solidFill>
                <a:latin typeface="Segoe UI"/>
              </a:rPr>
              <a:t>Drift monitoring — alert when live MAPE regresses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67528" y="196596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C7D2FE"/>
                </a:solidFill>
                <a:latin typeface="Segoe UI"/>
              </a:rPr>
              <a:t>SalesIQ — from raw sales data to a validated forecast,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5B4FC"/>
                </a:solidFill>
                <a:latin typeface="Segoe UI"/>
              </a:rPr>
              <a:t>github.com/icodervivek/SalesIQ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CA3AF"/>
                </a:solidFill>
                <a:latin typeface="Segoe UI"/>
              </a:rPr>
              <a:t>Full docs, model evaluation report, and setup instructions in the repo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